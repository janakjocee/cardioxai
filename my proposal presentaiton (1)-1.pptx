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2">
  <p:sldMasterIdLst>
    <p:sldMasterId id="2147483725" r:id="rId4"/>
  </p:sldMasterIdLst>
  <p:sldIdLst>
    <p:sldId id="256" r:id="rId5"/>
    <p:sldId id="296" r:id="rId6"/>
    <p:sldId id="257" r:id="rId7"/>
    <p:sldId id="271" r:id="rId8"/>
    <p:sldId id="281" r:id="rId9"/>
    <p:sldId id="282" r:id="rId10"/>
    <p:sldId id="283" r:id="rId11"/>
    <p:sldId id="287" r:id="rId12"/>
    <p:sldId id="288" r:id="rId13"/>
    <p:sldId id="291" r:id="rId14"/>
    <p:sldId id="292" r:id="rId15"/>
    <p:sldId id="293" r:id="rId16"/>
    <p:sldId id="294" r:id="rId17"/>
    <p:sldId id="297" r:id="rId18"/>
    <p:sldId id="29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756011-A3D4-C741-A5D0-DF635C05DA10}" v="50" dt="2023-07-14T08:46:17.9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6" autoAdjust="0"/>
    <p:restoredTop sz="96327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008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421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298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58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741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972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730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0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016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537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561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C4259D-0D63-A746-8F45-D559A12D16E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881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yorksj.ac.uk/assessment/coversheet-statements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?utm_source=chatgpt.com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ho.int/news-room/fact-sheets/detail/cardiovascular-diseases-(cvds)?utm_source=chatgpt.com" TargetMode="External"/><Relationship Id="rId5" Type="http://schemas.openxmlformats.org/officeDocument/2006/relationships/hyperlink" Target="https://archive.ics.uci.edu/ml/index.php?utm_source=chatgpt.com" TargetMode="External"/><Relationship Id="rId4" Type="http://schemas.openxmlformats.org/officeDocument/2006/relationships/hyperlink" Target="https://christophm.github.io/interpretable-ml-book/?utm_source=chatgpt.com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4173D-3AF9-E442-CBD4-A58D782326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6319" y="551611"/>
            <a:ext cx="6851373" cy="1881810"/>
          </a:xfrm>
        </p:spPr>
        <p:txBody>
          <a:bodyPr>
            <a:noAutofit/>
          </a:bodyPr>
          <a:lstStyle/>
          <a:p>
            <a:pPr algn="l"/>
            <a:r>
              <a:rPr lang="en-US" sz="2800" b="1" dirty="0"/>
              <a:t>Early-Stage Disease Prediction</a:t>
            </a:r>
            <a:br>
              <a:rPr lang="en-US" sz="2800" b="1" dirty="0"/>
            </a:br>
            <a:r>
              <a:rPr lang="en-US" sz="2800" b="1" dirty="0"/>
              <a:t>Using Integrated Lifestyle and Clinical Data with Explainable Machine Learning Models</a:t>
            </a:r>
            <a:r>
              <a:rPr lang="en-US" sz="3600" b="1" dirty="0"/>
              <a:t/>
            </a:r>
            <a:br>
              <a:rPr lang="en-US" sz="3600" b="1" dirty="0"/>
            </a:b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379E76B-E4BF-F1F9-CE51-CCB32FC8316A}"/>
              </a:ext>
            </a:extLst>
          </p:cNvPr>
          <p:cNvCxnSpPr/>
          <p:nvPr/>
        </p:nvCxnSpPr>
        <p:spPr>
          <a:xfrm>
            <a:off x="617838" y="3249827"/>
            <a:ext cx="0" cy="231071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7">
            <a:extLst>
              <a:ext uri="{FF2B5EF4-FFF2-40B4-BE49-F238E27FC236}">
                <a16:creationId xmlns:a16="http://schemas.microsoft.com/office/drawing/2014/main" id="{BC676C5A-CF35-FADC-AF79-DDFA9DF795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0158539"/>
              </p:ext>
            </p:extLst>
          </p:nvPr>
        </p:nvGraphicFramePr>
        <p:xfrm>
          <a:off x="727162" y="2178240"/>
          <a:ext cx="9134163" cy="4441711"/>
        </p:xfrm>
        <a:graphic>
          <a:graphicData uri="http://schemas.openxmlformats.org/drawingml/2006/table">
            <a:tbl>
              <a:tblPr firstRow="1" firstCol="1" bandRow="1"/>
              <a:tblGrid>
                <a:gridCol w="4244136">
                  <a:extLst>
                    <a:ext uri="{9D8B030D-6E8A-4147-A177-3AD203B41FA5}">
                      <a16:colId xmlns:a16="http://schemas.microsoft.com/office/drawing/2014/main" val="67251598"/>
                    </a:ext>
                  </a:extLst>
                </a:gridCol>
                <a:gridCol w="4890027">
                  <a:extLst>
                    <a:ext uri="{9D8B030D-6E8A-4147-A177-3AD203B41FA5}">
                      <a16:colId xmlns:a16="http://schemas.microsoft.com/office/drawing/2014/main" val="3533018794"/>
                    </a:ext>
                  </a:extLst>
                </a:gridCol>
              </a:tblGrid>
              <a:tr h="784942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</a:pPr>
                      <a:r>
                        <a:rPr lang="en-GB" sz="2000" b="1" u="sng" kern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The Coversheet</a:t>
                      </a:r>
                      <a:endParaRPr lang="en-GB" sz="2000" b="1" kern="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20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GB" sz="2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71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01019"/>
                  </a:ext>
                </a:extLst>
              </a:tr>
              <a:tr h="57522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2000" b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Student Name </a:t>
                      </a: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2000" b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(unless anonymised) 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2000" b="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GB" sz="2000" b="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Sarjan</a:t>
                      </a:r>
                      <a:r>
                        <a:rPr lang="en-GB" sz="2000" b="0" baseline="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Bahadur </a:t>
                      </a:r>
                      <a:r>
                        <a:rPr lang="en-GB" sz="2000" b="0" baseline="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Thapa</a:t>
                      </a:r>
                      <a:endParaRPr lang="en-GB" sz="20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009896"/>
                  </a:ext>
                </a:extLst>
              </a:tr>
              <a:tr h="57522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2000" b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Student Number </a:t>
                      </a: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2000" b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(as shown on student ID card):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2000" b="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260043443</a:t>
                      </a:r>
                      <a:endParaRPr lang="en-GB" sz="20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6955742"/>
                  </a:ext>
                </a:extLst>
              </a:tr>
              <a:tr h="5512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2000" b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Word Count / Pages / Duration / Other Limits: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2000" b="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20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916432"/>
                  </a:ext>
                </a:extLst>
              </a:tr>
              <a:tr h="5512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20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Assessment component number (1,2 or 3)</a:t>
                      </a:r>
                      <a:endParaRPr lang="en-GB" sz="2000" b="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2000" b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586846"/>
                  </a:ext>
                </a:extLst>
              </a:tr>
              <a:tr h="3954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20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Assessment type</a:t>
                      </a:r>
                      <a:endParaRPr lang="en-GB" sz="2000" b="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2000" b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Proposal presentation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9547218"/>
                  </a:ext>
                </a:extLst>
              </a:tr>
              <a:tr h="2767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2000" b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Attempt Number: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2000" b="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1</a:t>
                      </a:r>
                      <a:endParaRPr lang="en-GB" sz="20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676147"/>
                  </a:ext>
                </a:extLst>
              </a:tr>
              <a:tr h="2767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2000" b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Date of Submission: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2000" b="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14th May 2026, 12Noon</a:t>
                      </a:r>
                      <a:endParaRPr lang="en-GB" sz="20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107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8904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BB81EE-3885-D2D3-457D-283BB8622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F1AE869-FA86-043C-2AA4-0DBE80E44528}"/>
              </a:ext>
            </a:extLst>
          </p:cNvPr>
          <p:cNvCxnSpPr/>
          <p:nvPr/>
        </p:nvCxnSpPr>
        <p:spPr>
          <a:xfrm>
            <a:off x="684099" y="2211437"/>
            <a:ext cx="0" cy="231071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D8EC5FF-0A7E-52D8-D081-D4B9EDEAE1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5563063"/>
              </p:ext>
            </p:extLst>
          </p:nvPr>
        </p:nvGraphicFramePr>
        <p:xfrm>
          <a:off x="854012" y="2273412"/>
          <a:ext cx="9007741" cy="1155587"/>
        </p:xfrm>
        <a:graphic>
          <a:graphicData uri="http://schemas.openxmlformats.org/drawingml/2006/table">
            <a:tbl>
              <a:tblPr firstRow="1" firstCol="1" bandRow="1"/>
              <a:tblGrid>
                <a:gridCol w="7218382">
                  <a:extLst>
                    <a:ext uri="{9D8B030D-6E8A-4147-A177-3AD203B41FA5}">
                      <a16:colId xmlns:a16="http://schemas.microsoft.com/office/drawing/2014/main" val="787756284"/>
                    </a:ext>
                  </a:extLst>
                </a:gridCol>
                <a:gridCol w="1789359">
                  <a:extLst>
                    <a:ext uri="{9D8B030D-6E8A-4147-A177-3AD203B41FA5}">
                      <a16:colId xmlns:a16="http://schemas.microsoft.com/office/drawing/2014/main" val="2451618896"/>
                    </a:ext>
                  </a:extLst>
                </a:gridCol>
              </a:tblGrid>
              <a:tr h="28335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 have read and understood the </a:t>
                      </a:r>
                      <a:r>
                        <a:rPr lang="en-GB" sz="1400" u="sng" dirty="0">
                          <a:solidFill>
                            <a:srgbClr val="0563C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Academic Misconduct statement</a:t>
                      </a:r>
                      <a:r>
                        <a:rPr lang="en-GB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GB" sz="1400" dirty="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Tick to confirm </a:t>
                      </a:r>
                      <a:r>
                        <a:rPr lang="en-GB" sz="1400" dirty="0">
                          <a:effectLst/>
                          <a:latin typeface="MS Gothic" panose="020B0609070205080204" pitchFamily="49" charset="-128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☐</a:t>
                      </a:r>
                      <a:endParaRPr lang="en-GB" sz="1400" dirty="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568068"/>
                  </a:ext>
                </a:extLst>
              </a:tr>
              <a:tr h="28335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 have read and understood the </a:t>
                      </a:r>
                      <a:r>
                        <a:rPr lang="en-GB" sz="1400" u="sng">
                          <a:solidFill>
                            <a:srgbClr val="0563C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Generative Artificial Intelligence use statement</a:t>
                      </a:r>
                      <a:r>
                        <a:rPr lang="en-GB" sz="1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GB" sz="140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Tick to confirm </a:t>
                      </a:r>
                      <a:r>
                        <a:rPr lang="en-GB" sz="1400" dirty="0">
                          <a:effectLst/>
                          <a:latin typeface="MS Gothic" panose="020B0609070205080204" pitchFamily="49" charset="-128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☐</a:t>
                      </a:r>
                      <a:endParaRPr lang="en-GB" sz="1400" dirty="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311619"/>
                  </a:ext>
                </a:extLst>
              </a:tr>
              <a:tr h="588885">
                <a:tc>
                  <a:txBody>
                    <a:bodyPr/>
                    <a:lstStyle/>
                    <a:p>
                      <a:pPr fontAlgn="base">
                        <a:lnSpc>
                          <a:spcPct val="107000"/>
                        </a:lnSpc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Iskoola Pota" panose="020B0502040204020203" pitchFamily="34" charset="0"/>
                        </a:rPr>
                        <a:t>I am satisfied that I have met the Learning Outcomes of this assignment 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(please check the Assignment Brief if you are unsure)</a:t>
                      </a:r>
                      <a:endParaRPr lang="en-GB" sz="1400" dirty="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​​​</a:t>
                      </a:r>
                      <a:r>
                        <a:rPr lang="en-GB" sz="1400" dirty="0">
                          <a:solidFill>
                            <a:srgbClr val="7F7F7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GB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</a:t>
                      </a:r>
                      <a:r>
                        <a:rPr lang="en-GB" sz="1400" dirty="0">
                          <a:solidFill>
                            <a:srgbClr val="7F7F7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400" dirty="0">
                          <a:solidFill>
                            <a:srgbClr val="7F7F7F"/>
                          </a:solidFill>
                          <a:effectLst/>
                          <a:latin typeface="MS Gothic" panose="020B0609070205080204" pitchFamily="49" charset="-128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☐</a:t>
                      </a:r>
                      <a:endParaRPr lang="en-GB" sz="1400" dirty="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799136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16FF83F-571B-9B48-D9E3-A4DB99715D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2323224"/>
              </p:ext>
            </p:extLst>
          </p:nvPr>
        </p:nvGraphicFramePr>
        <p:xfrm>
          <a:off x="854012" y="3616112"/>
          <a:ext cx="9007739" cy="2304296"/>
        </p:xfrm>
        <a:graphic>
          <a:graphicData uri="http://schemas.openxmlformats.org/drawingml/2006/table">
            <a:tbl>
              <a:tblPr firstRow="1" firstCol="1" bandRow="1"/>
              <a:tblGrid>
                <a:gridCol w="9007739">
                  <a:extLst>
                    <a:ext uri="{9D8B030D-6E8A-4147-A177-3AD203B41FA5}">
                      <a16:colId xmlns:a16="http://schemas.microsoft.com/office/drawing/2014/main" val="6097386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base">
                        <a:lnSpc>
                          <a:spcPct val="107000"/>
                        </a:lnSpc>
                      </a:pPr>
                      <a:r>
                        <a:rPr lang="en-GB" sz="14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B0502040204020203" pitchFamily="34" charset="0"/>
                        </a:rPr>
                        <a:t>Self-Assessment</a:t>
                      </a: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B0502040204020203" pitchFamily="34" charset="0"/>
                        </a:rPr>
                        <a:t> – If there are particular aspects of your assignment on which you would like feedback, please indicate below.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  <a:p>
                      <a:pPr fontAlgn="base">
                        <a:lnSpc>
                          <a:spcPct val="107000"/>
                        </a:lnSpc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B0502040204020203" pitchFamily="34" charset="0"/>
                        </a:rPr>
                        <a:t>Optional for students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</a:txBody>
                  <a:tcPr marL="63962" marR="639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8675"/>
                  </a:ext>
                </a:extLst>
              </a:tr>
              <a:tr h="1162821">
                <a:tc>
                  <a:txBody>
                    <a:bodyPr/>
                    <a:lstStyle/>
                    <a:p>
                      <a:pPr fontAlgn="base">
                        <a:lnSpc>
                          <a:spcPct val="107000"/>
                        </a:lnSpc>
                      </a:pPr>
                      <a:r>
                        <a:rPr lang="en-GB" sz="1400" b="1" i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B0502040204020203" pitchFamily="34" charset="0"/>
                        </a:rPr>
                        <a:t>Suggested prompt questions-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  <a:p>
                      <a:pPr fontAlgn="base">
                        <a:lnSpc>
                          <a:spcPct val="107000"/>
                        </a:lnSpc>
                      </a:pPr>
                      <a:r>
                        <a:rPr lang="en-GB" sz="1400" i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B0502040204020203" pitchFamily="34" charset="0"/>
                        </a:rPr>
                        <a:t>How have you developed or progressed your learning in this work?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  <a:p>
                      <a:pPr fontAlgn="base">
                        <a:lnSpc>
                          <a:spcPct val="107000"/>
                        </a:lnSpc>
                      </a:pPr>
                      <a:r>
                        <a:rPr lang="en-GB" sz="1400" i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B0502040204020203" pitchFamily="34" charset="0"/>
                        </a:rPr>
                        <a:t>What do you feel is the strongest part of this submission?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  <a:p>
                      <a:pPr fontAlgn="base">
                        <a:lnSpc>
                          <a:spcPct val="107000"/>
                        </a:lnSpc>
                      </a:pPr>
                      <a:r>
                        <a:rPr lang="en-GB" sz="1400" i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B0502040204020203" pitchFamily="34" charset="0"/>
                        </a:rPr>
                        <a:t>What feedback would you give yourself?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  <a:p>
                      <a:pPr fontAlgn="base">
                        <a:lnSpc>
                          <a:spcPct val="107000"/>
                        </a:lnSpc>
                      </a:pPr>
                      <a:r>
                        <a:rPr lang="en-GB" sz="1400" i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B0502040204020203" pitchFamily="34" charset="0"/>
                        </a:rPr>
                        <a:t>What part(s) of this assignment are you still unsure about?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</a:txBody>
                  <a:tcPr marL="63962" marR="639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7089793"/>
                  </a:ext>
                </a:extLst>
              </a:tr>
              <a:tr h="456627">
                <a:tc>
                  <a:txBody>
                    <a:bodyPr/>
                    <a:lstStyle/>
                    <a:p>
                      <a:pPr fontAlgn="base">
                        <a:lnSpc>
                          <a:spcPct val="107000"/>
                        </a:lnSpc>
                      </a:pPr>
                      <a:endParaRPr lang="en-GB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</a:txBody>
                  <a:tcPr marL="63962" marR="639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1603468"/>
                  </a:ext>
                </a:extLst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8039" y="2327662"/>
            <a:ext cx="151736" cy="15173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8039" y="2612262"/>
            <a:ext cx="145859" cy="14585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8039" y="2881269"/>
            <a:ext cx="145859" cy="145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198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B5E49-C905-7502-13EB-955FDFD5A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 of Content 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046F0-EB5C-D552-4FFE-941607904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1825625"/>
            <a:ext cx="10515600" cy="4667250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</a:t>
            </a:r>
          </a:p>
          <a:p>
            <a:r>
              <a: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Overview</a:t>
            </a:r>
          </a:p>
          <a:p>
            <a:r>
              <a: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Expected Outcomes &amp; Impacts</a:t>
            </a:r>
          </a:p>
          <a:p>
            <a:r>
              <a: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 </a:t>
            </a:r>
          </a:p>
          <a:p>
            <a:r>
              <a: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Innovative Solution</a:t>
            </a:r>
          </a:p>
          <a:p>
            <a:r>
              <a: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  <a:p>
            <a:r>
              <a: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Timeline</a:t>
            </a:r>
          </a:p>
          <a:p>
            <a:r>
              <a: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Work</a:t>
            </a:r>
          </a:p>
          <a:p>
            <a:r>
              <a: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r>
              <a: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  <a:p>
            <a:r>
              <a: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Ethics Consideration</a:t>
            </a:r>
            <a:endParaRPr lang="en-US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74E5B73-2FEC-37E5-1E32-146D810B5C88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33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B5E49-C905-7502-13EB-955FDFD5A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046F0-EB5C-D552-4FFE-941607904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Timely detection plays an important role in enhancing the length of patient survival and lowering healthcare costs. </a:t>
            </a:r>
          </a:p>
          <a:p>
            <a:r>
              <a:rPr lang="en-US" sz="2400" dirty="0"/>
              <a:t>The traditional diagnostic approach can take a long time to diagnose diseases.</a:t>
            </a:r>
          </a:p>
          <a:p>
            <a:r>
              <a:rPr lang="en-US" sz="2400" dirty="0"/>
              <a:t> By leveraging patient information, Machine Learning (ML) can help to more accurately and rapidly forecast illness. </a:t>
            </a:r>
          </a:p>
          <a:p>
            <a:r>
              <a:rPr lang="en-US" sz="2400" dirty="0"/>
              <a:t>The integration of lifestyle and clinical data for early-stage disease prediction in this project.</a:t>
            </a:r>
          </a:p>
          <a:p>
            <a:r>
              <a:rPr lang="en-US" sz="2400" dirty="0"/>
              <a:t> New techniques in Explainable AI (XAI) like SHAP and LIME are applied to enhance transparency and trust in predictions. </a:t>
            </a:r>
          </a:p>
          <a:p>
            <a:r>
              <a:rPr lang="en-US" sz="2400" dirty="0"/>
              <a:t>The purpose of the research is to create doctors' intelligent and data-driven decision making systems.</a:t>
            </a:r>
          </a:p>
          <a:p>
            <a:endParaRPr lang="en-US" sz="24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74E5B73-2FEC-37E5-1E32-146D810B5C88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460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F32CC9-2F23-BFA7-DF8F-487712410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8F73F-4A21-28C4-764F-BF89E730D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456246"/>
            <a:ext cx="4075312" cy="43592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80103-D4F5-FF11-A722-09324655B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A859EE0-46E0-1E9F-8E51-B19B33D06CCD}"/>
              </a:ext>
            </a:extLst>
          </p:cNvPr>
          <p:cNvCxnSpPr>
            <a:cxnSpLocks/>
          </p:cNvCxnSpPr>
          <p:nvPr/>
        </p:nvCxnSpPr>
        <p:spPr>
          <a:xfrm flipH="1">
            <a:off x="430427" y="1139409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443679" y="763800"/>
            <a:ext cx="9592604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400" dirty="0"/>
              <a:t>The aim of this project is to build an intelligent system for prediction of the disease at an early stage using Machine Learning techniques. 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 smtClean="0"/>
              <a:t> The </a:t>
            </a:r>
            <a:r>
              <a:rPr lang="en-US" sz="2400" dirty="0"/>
              <a:t>study includes clinical data (blood pressure, cholesterol level, glucose level, BMI) and lifestyle data (smoking, exercise, diet). 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 smtClean="0"/>
              <a:t> Various </a:t>
            </a:r>
            <a:r>
              <a:rPr lang="en-US" sz="2400" dirty="0"/>
              <a:t>Machine Learning models like Logistic regression, Decision Tree, Random Forest and SVM will be compared. 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 smtClean="0"/>
              <a:t> Techniques </a:t>
            </a:r>
            <a:r>
              <a:rPr lang="en-US" sz="2400" dirty="0"/>
              <a:t>such as Data Pre-processing (data cleaning, data normalization, and feature selection) will be employed to enhance the model performance. 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 smtClean="0"/>
              <a:t> Predictions </a:t>
            </a:r>
            <a:r>
              <a:rPr lang="en-US" sz="2400" dirty="0"/>
              <a:t>will be made transparent and understandable using Explainable AI (XAI) techniques, such as SHAP and LIME. 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 smtClean="0"/>
              <a:t> The </a:t>
            </a:r>
            <a:r>
              <a:rPr lang="en-US" sz="2400" dirty="0"/>
              <a:t>accuracy, precision, recall, F1-Score, and ROC-AUC will be used to assess the system's performance. 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 smtClean="0"/>
              <a:t> The </a:t>
            </a:r>
            <a:r>
              <a:rPr lang="en-US" sz="2400" dirty="0"/>
              <a:t>project is designed to assist a healthcare provider in more effective and expeditious clinical decisions.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714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E9DEF2-6BF1-73BB-357A-1B65F24E7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01462-637C-20E8-F48A-8F959960E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38621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Expected Outcomes &amp; Impacts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430427" y="1462077"/>
            <a:ext cx="9506734" cy="4124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/>
              <a:t> </a:t>
            </a:r>
            <a:r>
              <a:rPr lang="en-US" sz="2400" dirty="0"/>
              <a:t>Implementing an accurate early stage disease prediction system with Machine Learning.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 Identification of important health risk factors such as age, cholesterol, blood pressure, and lifestyle habits.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 Increased transparency and trust with Explainable AI methods (SHAP/LIME).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 Assistance to physicians in quicker and evidence-based clinical decisions.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 Early diagnosis, better patient outcome and survival rate.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 Lower health-care expenses due to prevention diagnosis and treatment.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 Support of AI and medical information analytics research.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4D4D53C-1E30-DFF7-BF6F-03B6A02DFD05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2164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A20F72-C90E-A834-065C-01A3AA02D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268EF-9454-2291-92F2-EAE09FA4C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162" y="342310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C6C6F-012C-A3C6-67E7-7C110DC3B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892AD6E-01A5-CDB0-CFF1-2F767DCB5F2C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525162" y="1382193"/>
            <a:ext cx="905616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 Many diseases are identified when it is too late, making it difficult to treat and patient survival rates lower.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 The traditional diagnosis methods rely on manual assessment and clinical experience is highly dependent and slow.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 A lot of patient data (clinical + lifestyle) is available but not used to the full extent for early prediction.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 Currently, most models are limited to clinical data and neglect other lifestyle factors of importance.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 Many AI healthcare systems are not explainable, which is why it's hard for doctors to trust and use.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 An accurate, transparent and explainable machine learning system for early prediction of disease is needed.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3719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78C956-B357-3404-8FF8-832D0B29C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2B35E-E0C9-DA42-9298-79FF39925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38621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Innovative Solution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2D74407-24A9-EC3F-1DC3-D27B2A7C3D28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30427" y="1186845"/>
            <a:ext cx="9383322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 Development of a hybrid machine learning system that can utilize both clinical data and lifestyle data to achieve more accurate disease prediction.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 Application of several ML algorithms to determine which algorithm has best performed results (Logistic Regression, Decision Tree, Random Forest, SVM). 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 Using feature selection methods to reduce the size and accuracy of the model. Explainable AI (SHAP &amp; LIME) integration to deliver interpretable and explainable predictions.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 Development of decision-making tool that aids early detection of disease.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 Emphasize the development of an accurate, interpretable, and clinically applicable model for real-world health care applications.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1861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CD7089-539B-F1E4-1113-EA5BC9CA5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B92C5-107F-6235-7105-D007948E4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614149"/>
            <a:ext cx="3281764" cy="64144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FDD2137-4FFF-A1DE-B4C6-7E0B2CB064B9}"/>
              </a:ext>
            </a:extLst>
          </p:cNvPr>
          <p:cNvCxnSpPr>
            <a:cxnSpLocks/>
          </p:cNvCxnSpPr>
          <p:nvPr/>
        </p:nvCxnSpPr>
        <p:spPr>
          <a:xfrm flipH="1">
            <a:off x="430427" y="1262879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30427" y="1379858"/>
            <a:ext cx="9996463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Collection: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Collect healthcare datasets from sources such as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Kaggle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UCI Machine Learning Repository, including clinical and lifestyle attributes.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Preprocessing: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 the dataset by handling missing values, removing duplicates, and correcting errors. Apply normalization and scaling techniques.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Feature Selection: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the most relevant features (e.g., age, blood pressure, cholesterol, lifestyle factors) to improve model performance.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Development: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 and test multiple machine learning algorithms such as Logistic Regression, Decision Tree, Random Forest, and SVM.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Evaluation: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 models using performance metrics including Accuracy, Precision, Recall, F1-score, and ROC-AUC.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Explainable AI (XAI):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SHAP and LIME to interpret model predictions and understand feature importance.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Final System: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 reliable early disease prediction model to support healthcare decision-making. </a:t>
            </a:r>
          </a:p>
        </p:txBody>
      </p:sp>
    </p:spTree>
    <p:extLst>
      <p:ext uri="{BB962C8B-B14F-4D97-AF65-F5344CB8AC3E}">
        <p14:creationId xmlns:p14="http://schemas.microsoft.com/office/powerpoint/2010/main" val="3323213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F1D47C-3CC6-20F5-3094-E96D00C1D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90C99-3CF7-FBBF-0948-517B19BDB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162" y="237567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Timeline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D6CCB68-991B-2F54-F71F-4C6E1A395E64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27" y="1828800"/>
            <a:ext cx="9942672" cy="4913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665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D69759-052A-5CA2-9409-447B80B59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6B723-FE64-2C2B-112C-4C9DEA08B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742122"/>
            <a:ext cx="3386199" cy="701738"/>
          </a:xfrm>
        </p:spPr>
        <p:txBody>
          <a:bodyPr/>
          <a:lstStyle/>
          <a:p>
            <a:r>
              <a: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Work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430427" y="1208329"/>
            <a:ext cx="9873633" cy="4955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/>
              <a:t> </a:t>
            </a:r>
            <a:r>
              <a:rPr lang="en-US" sz="2400" dirty="0"/>
              <a:t>Increase the patient population of the dataset with more and larger patient data sets for better model generalization.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 Connect Health Data in real time with wearable technology and electronic health records (EHRs).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 Look at the latest deep learning models and their benefits for higher prediction accuracy.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 Improve the Explainable AI approaches for even better clinical interpretation.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 Create a web or mobile application suitable for deployment in the real world in the health sector. 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 Work with healthcare institutions to validate and test. Expand model to forecast more diseases than were intended.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0A7B504-6BCD-0BA3-6AB4-24D8A7BD18C0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3432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87ED9B-71A4-7ACA-591F-B630F6FE5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8A440-1587-1CE2-FFE8-B83355B08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12117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ysClr val="windowText" lastClr="000000"/>
                </a:solidFill>
              </a:rPr>
              <a:t>Conclusion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C994DFC-825D-8C12-1738-D6C3DB276E2D}"/>
              </a:ext>
            </a:extLst>
          </p:cNvPr>
          <p:cNvCxnSpPr>
            <a:cxnSpLocks/>
          </p:cNvCxnSpPr>
          <p:nvPr/>
        </p:nvCxnSpPr>
        <p:spPr>
          <a:xfrm flipH="1">
            <a:off x="525162" y="1364348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525162" y="1129535"/>
            <a:ext cx="9170504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This project shows how Machine Learning can be used to make predictions at an early stage.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The integration of clinical data and lifestyle data enhances the accuracy and reliability of the prediction.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 </a:t>
            </a:r>
            <a:r>
              <a:rPr lang="en-US" sz="2400" dirty="0" err="1"/>
              <a:t>Explainability</a:t>
            </a:r>
            <a:r>
              <a:rPr lang="en-US" sz="2400" dirty="0"/>
              <a:t> AI techniques bring transparency and enhance trust in the model among health care professionals.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 The system can assist doctors in quicker and better clinical decision making.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 Overall, the project highlights how AI and data analytics can enhance early diagnosis and improve healthcare outcomes.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855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39BF30-E6D8-5B5B-82B2-F51B7AD52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4F6D2-FDA6-BC46-0D08-5F74D0301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962" y="249379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300106" y="1463685"/>
            <a:ext cx="10417512" cy="5144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N" sz="2000" dirty="0"/>
              <a:t>Bishop, C.M. (2006) </a:t>
            </a:r>
            <a:r>
              <a:rPr lang="en-IN" sz="2000" i="1" dirty="0"/>
              <a:t>Pattern Recognition and Machine Learning</a:t>
            </a:r>
            <a:r>
              <a:rPr lang="en-IN" sz="2000" dirty="0"/>
              <a:t>. New York: Springer.</a:t>
            </a:r>
          </a:p>
          <a:p>
            <a:pPr algn="just"/>
            <a:r>
              <a:rPr lang="en-IN" sz="2000" dirty="0" err="1"/>
              <a:t>Géron</a:t>
            </a:r>
            <a:r>
              <a:rPr lang="en-IN" sz="2000" dirty="0"/>
              <a:t>, A. (2022) </a:t>
            </a:r>
            <a:r>
              <a:rPr lang="en-IN" sz="2000" i="1" dirty="0"/>
              <a:t>Hands-On Machine Learning with Scikit-Learn, </a:t>
            </a:r>
            <a:r>
              <a:rPr lang="en-IN" sz="2000" i="1" dirty="0" err="1"/>
              <a:t>Keras</a:t>
            </a:r>
            <a:r>
              <a:rPr lang="en-IN" sz="2000" i="1" dirty="0"/>
              <a:t>, and TensorFlow</a:t>
            </a:r>
            <a:r>
              <a:rPr lang="en-IN" sz="2000" dirty="0"/>
              <a:t>. 3rd </a:t>
            </a:r>
            <a:r>
              <a:rPr lang="en-IN" sz="2000" dirty="0" err="1"/>
              <a:t>edn</a:t>
            </a:r>
            <a:r>
              <a:rPr lang="en-IN" sz="2000" dirty="0"/>
              <a:t>. Sebastopol, CA: O’Reilly Media.</a:t>
            </a:r>
          </a:p>
          <a:p>
            <a:pPr algn="just"/>
            <a:r>
              <a:rPr lang="en-IN" sz="2000" dirty="0"/>
              <a:t>James, G., Witten, D., Hastie, T. and </a:t>
            </a:r>
            <a:r>
              <a:rPr lang="en-IN" sz="2000" dirty="0" err="1"/>
              <a:t>Tibshirani</a:t>
            </a:r>
            <a:r>
              <a:rPr lang="en-IN" sz="2000" dirty="0"/>
              <a:t>, R. (2021) </a:t>
            </a:r>
            <a:r>
              <a:rPr lang="en-IN" sz="2000" i="1" dirty="0"/>
              <a:t>An Introduction to Statistical Learning: With Applications in Python</a:t>
            </a:r>
            <a:r>
              <a:rPr lang="en-IN" sz="2000" dirty="0"/>
              <a:t>. 2nd </a:t>
            </a:r>
            <a:r>
              <a:rPr lang="en-IN" sz="2000" dirty="0" err="1"/>
              <a:t>edn</a:t>
            </a:r>
            <a:r>
              <a:rPr lang="en-IN" sz="2000" dirty="0"/>
              <a:t>. New York: Springer.</a:t>
            </a:r>
          </a:p>
          <a:p>
            <a:pPr algn="just"/>
            <a:r>
              <a:rPr lang="en-IN" sz="2000" dirty="0"/>
              <a:t>Kaggle (2026) </a:t>
            </a:r>
            <a:r>
              <a:rPr lang="en-IN" sz="2000" i="1" dirty="0"/>
              <a:t>Healthcare Datasets for Machine Learning</a:t>
            </a:r>
            <a:r>
              <a:rPr lang="en-IN" sz="2000" dirty="0"/>
              <a:t>. Available at: </a:t>
            </a:r>
            <a:r>
              <a:rPr lang="en-IN" sz="2000" dirty="0">
                <a:hlinkClick r:id="rId3"/>
              </a:rPr>
              <a:t>https://www.kaggle.com/</a:t>
            </a:r>
            <a:r>
              <a:rPr lang="en-IN" sz="2000" dirty="0"/>
              <a:t> (Accessed: 12 May 2026).</a:t>
            </a:r>
          </a:p>
          <a:p>
            <a:pPr algn="just"/>
            <a:r>
              <a:rPr lang="en-IN" sz="2000" dirty="0"/>
              <a:t>Kuhn, M. and Johnson, K. (2013) </a:t>
            </a:r>
            <a:r>
              <a:rPr lang="en-IN" sz="2000" i="1" dirty="0"/>
              <a:t>Applied Predictive </a:t>
            </a:r>
            <a:r>
              <a:rPr lang="en-IN" sz="2000" i="1" dirty="0" err="1"/>
              <a:t>Modeling</a:t>
            </a:r>
            <a:r>
              <a:rPr lang="en-IN" sz="2000" dirty="0"/>
              <a:t>. New York: Springer.</a:t>
            </a:r>
          </a:p>
          <a:p>
            <a:pPr algn="just"/>
            <a:r>
              <a:rPr lang="en-IN" sz="2000" dirty="0"/>
              <a:t>Molnar, C. (2022) </a:t>
            </a:r>
            <a:r>
              <a:rPr lang="en-IN" sz="2000" i="1" dirty="0"/>
              <a:t>Interpretable Machine Learning</a:t>
            </a:r>
            <a:r>
              <a:rPr lang="en-IN" sz="2000" dirty="0"/>
              <a:t>. 2nd </a:t>
            </a:r>
            <a:r>
              <a:rPr lang="en-IN" sz="2000" dirty="0" err="1"/>
              <a:t>edn</a:t>
            </a:r>
            <a:r>
              <a:rPr lang="en-IN" sz="2000" dirty="0"/>
              <a:t>. Available at: </a:t>
            </a:r>
            <a:r>
              <a:rPr lang="en-IN" sz="2000" dirty="0">
                <a:hlinkClick r:id="rId4"/>
              </a:rPr>
              <a:t>https://christophm.github.io/interpretable-ml-book</a:t>
            </a:r>
            <a:r>
              <a:rPr lang="en-IN" sz="2000" dirty="0"/>
              <a:t>/ (Accessed: 12 May 2026).</a:t>
            </a:r>
          </a:p>
          <a:p>
            <a:pPr algn="just"/>
            <a:r>
              <a:rPr lang="en-IN" sz="2000" dirty="0"/>
              <a:t>UCI Machine Learning Repository (2026) </a:t>
            </a:r>
            <a:r>
              <a:rPr lang="en-IN" sz="2000" i="1" dirty="0"/>
              <a:t>Machine Learning Datasets</a:t>
            </a:r>
            <a:r>
              <a:rPr lang="en-IN" sz="2000" dirty="0"/>
              <a:t>. Available at: </a:t>
            </a:r>
            <a:r>
              <a:rPr lang="en-IN" sz="2000" dirty="0">
                <a:hlinkClick r:id="rId5"/>
              </a:rPr>
              <a:t>https://archive.ics.uci.edu/ml/index.php</a:t>
            </a:r>
            <a:r>
              <a:rPr lang="en-IN" sz="2000" dirty="0"/>
              <a:t> (Accessed: 12 May 2026).</a:t>
            </a:r>
          </a:p>
          <a:p>
            <a:pPr algn="just"/>
            <a:r>
              <a:rPr lang="en-IN" sz="2000" dirty="0"/>
              <a:t>World Health Organization (2023) </a:t>
            </a:r>
            <a:r>
              <a:rPr lang="en-IN" sz="2000" i="1" dirty="0"/>
              <a:t>Cardiovascular diseases (CVDs) fact sheet</a:t>
            </a:r>
            <a:r>
              <a:rPr lang="en-IN" sz="2000" dirty="0"/>
              <a:t>. Available at: </a:t>
            </a:r>
            <a:r>
              <a:rPr lang="en-IN" sz="2000" dirty="0">
                <a:hlinkClick r:id="rId6"/>
              </a:rPr>
              <a:t>https://www.who.int/news-room/fact-sheets/detail/cardiovascular-diseases-(cvds)</a:t>
            </a:r>
            <a:r>
              <a:rPr lang="en-IN" sz="2000" dirty="0"/>
              <a:t> (Accessed: 1 May 2026).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629C2A5-3D4A-AB8B-35CC-A0C7327DDA61}"/>
              </a:ext>
            </a:extLst>
          </p:cNvPr>
          <p:cNvCxnSpPr>
            <a:cxnSpLocks/>
          </p:cNvCxnSpPr>
          <p:nvPr/>
        </p:nvCxnSpPr>
        <p:spPr>
          <a:xfrm flipH="1">
            <a:off x="448962" y="1324591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79C15CA8-DF9D-035A-8374-3C37ED2D1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92333"/>
            <a:ext cx="35266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ElsevierSans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10480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D3BA22-5B2F-E652-D77F-10FB3AAE7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A8890-8CF1-83D6-F540-5C861CFB3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Ethics Consideration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0BAF5-B010-9F7A-2151-2A52634F4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1825625"/>
            <a:ext cx="9972530" cy="4351338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b="1" dirty="0"/>
              <a:t>Patient Data Privacy</a:t>
            </a:r>
            <a:r>
              <a:rPr lang="en-US" dirty="0"/>
              <a:t>: Patient data should be </a:t>
            </a:r>
            <a:r>
              <a:rPr lang="en-US" dirty="0" err="1"/>
              <a:t>anonymised</a:t>
            </a:r>
            <a:r>
              <a:rPr lang="en-US" dirty="0"/>
              <a:t> and protected according to GDPR regulations. </a:t>
            </a:r>
          </a:p>
          <a:p>
            <a:pPr algn="just"/>
            <a:r>
              <a:rPr lang="en-US" b="1" dirty="0"/>
              <a:t>Data Security</a:t>
            </a:r>
            <a:r>
              <a:rPr lang="en-US" dirty="0"/>
              <a:t>: Ensuring secure data storage and controlled access to prevent misuse of sensitive health-related information. </a:t>
            </a:r>
          </a:p>
          <a:p>
            <a:pPr algn="just"/>
            <a:r>
              <a:rPr lang="en-US" b="1" dirty="0"/>
              <a:t>Bias &amp; Fairness</a:t>
            </a:r>
            <a:r>
              <a:rPr lang="en-US" dirty="0"/>
              <a:t>: Models should be checked for bias to prevent unfair/discriminatory predictions. </a:t>
            </a:r>
          </a:p>
          <a:p>
            <a:pPr algn="just"/>
            <a:r>
              <a:rPr lang="en-US" b="1" dirty="0" err="1"/>
              <a:t>Explainability</a:t>
            </a:r>
            <a:r>
              <a:rPr lang="en-US" dirty="0"/>
              <a:t>: Ensure predictions are interpretable and trustworthy using Explainable AI (SHAP/LIME). </a:t>
            </a:r>
          </a:p>
          <a:p>
            <a:pPr algn="just"/>
            <a:r>
              <a:rPr lang="en-US" b="1" dirty="0"/>
              <a:t>Medical Responsibility</a:t>
            </a:r>
            <a:r>
              <a:rPr lang="en-US" dirty="0"/>
              <a:t>: The system must be used as a medical decision support system and not as a substitute for medical practice. </a:t>
            </a:r>
          </a:p>
          <a:p>
            <a:pPr algn="just"/>
            <a:r>
              <a:rPr lang="en-US" b="1" dirty="0"/>
              <a:t>Data Usage Ethics</a:t>
            </a:r>
            <a:r>
              <a:rPr lang="en-US" dirty="0"/>
              <a:t>: Data for research should be used from publicly available and/or ethically approved sources.</a:t>
            </a:r>
            <a:endParaRPr lang="en-US" sz="24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BCB69D-F127-ABF0-C9AF-8A9DAA2469E7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2700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267199" y="2978135"/>
            <a:ext cx="314717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Thank you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58078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283CB985BCEF489A654FCE3531657F" ma:contentTypeVersion="18" ma:contentTypeDescription="Create a new document." ma:contentTypeScope="" ma:versionID="db169b4c9925e0fd313b5da99927ff61">
  <xsd:schema xmlns:xsd="http://www.w3.org/2001/XMLSchema" xmlns:xs="http://www.w3.org/2001/XMLSchema" xmlns:p="http://schemas.microsoft.com/office/2006/metadata/properties" xmlns:ns2="dafeb0ad-13d5-4e0d-8144-31148812dcc0" xmlns:ns3="a8fa98bc-f420-44dd-88e1-8912e31aef73" targetNamespace="http://schemas.microsoft.com/office/2006/metadata/properties" ma:root="true" ma:fieldsID="bbb782d171cf807cba652dc2dc79df8f" ns2:_="" ns3:_="">
    <xsd:import namespace="dafeb0ad-13d5-4e0d-8144-31148812dcc0"/>
    <xsd:import namespace="a8fa98bc-f420-44dd-88e1-8912e31aef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feb0ad-13d5-4e0d-8144-31148812dcc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abb1a67c-477c-4f54-866d-e73c7b3fe04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fa98bc-f420-44dd-88e1-8912e31aef7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68240b81-9baa-46c0-9f71-8a59defd7d22}" ma:internalName="TaxCatchAll" ma:showField="CatchAllData" ma:web="a8fa98bc-f420-44dd-88e1-8912e31aef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afeb0ad-13d5-4e0d-8144-31148812dcc0">
      <Terms xmlns="http://schemas.microsoft.com/office/infopath/2007/PartnerControls"/>
    </lcf76f155ced4ddcb4097134ff3c332f>
    <TaxCatchAll xmlns="a8fa98bc-f420-44dd-88e1-8912e31aef7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780F8CE-9843-4392-91F6-61C78AD3018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feb0ad-13d5-4e0d-8144-31148812dcc0"/>
    <ds:schemaRef ds:uri="a8fa98bc-f420-44dd-88e1-8912e31aef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A93ECB7-811A-478B-B876-D16AAA496A70}">
  <ds:schemaRefs>
    <ds:schemaRef ds:uri="http://purl.org/dc/dcmitype/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www.w3.org/XML/1998/namespace"/>
    <ds:schemaRef ds:uri="http://schemas.openxmlformats.org/package/2006/metadata/core-properties"/>
    <ds:schemaRef ds:uri="a8fa98bc-f420-44dd-88e1-8912e31aef73"/>
    <ds:schemaRef ds:uri="dafeb0ad-13d5-4e0d-8144-31148812dcc0"/>
  </ds:schemaRefs>
</ds:datastoreItem>
</file>

<file path=customXml/itemProps3.xml><?xml version="1.0" encoding="utf-8"?>
<ds:datastoreItem xmlns:ds="http://schemas.openxmlformats.org/officeDocument/2006/customXml" ds:itemID="{D4032408-9DD7-44B2-8F33-9CF0367CBF0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991</TotalTime>
  <Words>1510</Words>
  <Application>Microsoft Office PowerPoint</Application>
  <PresentationFormat>Widescreen</PresentationFormat>
  <Paragraphs>135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MS Gothic</vt:lpstr>
      <vt:lpstr>Arial</vt:lpstr>
      <vt:lpstr>Calibri</vt:lpstr>
      <vt:lpstr>Calibri Light</vt:lpstr>
      <vt:lpstr>ElsevierSans</vt:lpstr>
      <vt:lpstr>Helvetica</vt:lpstr>
      <vt:lpstr>Iskoola Pota</vt:lpstr>
      <vt:lpstr>Times New Roman</vt:lpstr>
      <vt:lpstr>Office Theme</vt:lpstr>
      <vt:lpstr>Early-Stage Disease Prediction Using Integrated Lifestyle and Clinical Data with Explainable Machine Learning Models </vt:lpstr>
      <vt:lpstr>PowerPoint Presentation</vt:lpstr>
      <vt:lpstr>Table of Content </vt:lpstr>
      <vt:lpstr>Introduction </vt:lpstr>
      <vt:lpstr>Project Overview</vt:lpstr>
      <vt:lpstr>Expected Outcomes &amp; Impacts</vt:lpstr>
      <vt:lpstr>Problem Statement </vt:lpstr>
      <vt:lpstr>Innovative Solution</vt:lpstr>
      <vt:lpstr>Methodology</vt:lpstr>
      <vt:lpstr>Timeline</vt:lpstr>
      <vt:lpstr>Future Work</vt:lpstr>
      <vt:lpstr>Conclusion</vt:lpstr>
      <vt:lpstr>References</vt:lpstr>
      <vt:lpstr>Ethics Consideration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</dc:title>
  <dc:creator>Lucy Pittard</dc:creator>
  <cp:lastModifiedBy>HP</cp:lastModifiedBy>
  <cp:revision>81</cp:revision>
  <dcterms:created xsi:type="dcterms:W3CDTF">2023-06-15T10:03:21Z</dcterms:created>
  <dcterms:modified xsi:type="dcterms:W3CDTF">2026-05-14T07:49:29Z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0x010100E0283CB985BCEF489A654FCE3531657F</vt:lpwstr>
  </property>
</Properties>
</file>